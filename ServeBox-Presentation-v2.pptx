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23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ServeBox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 Food Ordering Platform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34747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Production Application  |  Internal Presentation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438912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F8F9FA"/>
          </a:solidFill>
          <a:ln w="15240">
            <a:solidFill>
              <a:srgbClr val="0984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3891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98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97480" y="438912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F8F9FA"/>
          </a:solidFill>
          <a:ln w="15240">
            <a:solidFill>
              <a:srgbClr val="00B89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97480" y="43891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Spring Boot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438912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F8F9FA"/>
          </a:solidFill>
          <a:ln w="15240">
            <a:solidFill>
              <a:srgbClr val="6C5C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43891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29400" y="438912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F8F9FA"/>
          </a:solidFill>
          <a:ln w="15240">
            <a:solidFill>
              <a:srgbClr val="E170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43891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170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Auth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595360" y="438912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F8F9FA"/>
          </a:solidFill>
          <a:ln w="15240">
            <a:solidFill>
              <a:srgbClr val="E237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95360" y="43891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3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Razorpay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5303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by: Shree Harini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Solution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built ServeBox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120640" cy="4389120"/>
          </a:xfrm>
          <a:prstGeom prst="roundRect">
            <a:avLst>
              <a:gd name="adj" fmla="val 2500"/>
            </a:avLst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45920"/>
            <a:ext cx="5120640" cy="54864"/>
          </a:xfrm>
          <a:prstGeom prst="rect">
            <a:avLst/>
          </a:prstGeom>
          <a:solidFill>
            <a:srgbClr val="D63031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28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630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Pain Points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24688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 Manual order collection via WhatsApp / paper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294436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 No centralized menu management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341985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 Cash handling &amp; payment tracking issues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389534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 No order history or audit trail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437083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 Catering team has no dashboard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4846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 Data lost when browser cache clears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35040" y="1645920"/>
            <a:ext cx="5120640" cy="4389120"/>
          </a:xfrm>
          <a:prstGeom prst="roundRect">
            <a:avLst>
              <a:gd name="adj" fmla="val 2500"/>
            </a:avLst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1645920"/>
            <a:ext cx="5120640" cy="54864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1828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ServeBox Solution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09360" y="24688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 Digital ordering with live menu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09360" y="294436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 Role-based access (Employee + Catering)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09360" y="341985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 Integrated Razorpay online payments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09360" y="389534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 Complete order history &amp; tracking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09360" y="437083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 Real-time order management dashboard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09360" y="4846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 Persistent PostgreSQL cloud database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0972800" cy="4754880"/>
        </p:xfrm>
        <a:graphic>
          <a:graphicData uri="http://schemas.openxmlformats.org/drawingml/2006/table">
            <a:tbl>
              <a:tblPr/>
              <a:tblGrid>
                <a:gridCol w="2286000"/>
                <a:gridCol w="3200400"/>
                <a:gridCol w="5486400"/>
              </a:tblGrid>
              <a:tr h="528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Layer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3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Technology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3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Purpose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3744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Frontend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React 19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Component-based SPA with hooks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Routing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React Router v7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Client-side navigation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Backend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Java (Spring Boot 3)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 API with Spring MVC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Database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PostgreSQL 18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Relational DB with Spring Data JPA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Spring Security + JWT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Token-based auth with BCrypt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Payments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Razorpay Checkout.js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PCI-DSS compliant payment gateway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 Tool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Maven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Dependency management &amp; JAR packaging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Deployment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Render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Cloud hosting with managed PostgreSQL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Architecture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291840" cy="1280160"/>
          </a:xfrm>
          <a:prstGeom prst="roundRect">
            <a:avLst>
              <a:gd name="adj" fmla="val 7143"/>
            </a:avLst>
          </a:prstGeom>
          <a:solidFill>
            <a:srgbClr val="F8F9FA"/>
          </a:solidFill>
          <a:ln w="25400">
            <a:solidFill>
              <a:srgbClr val="0984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630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98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Frontend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 (Browser)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0" y="1371600"/>
            <a:ext cx="457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297680" y="1371600"/>
            <a:ext cx="3291840" cy="1280160"/>
          </a:xfrm>
          <a:prstGeom prst="roundRect">
            <a:avLst>
              <a:gd name="adj" fmla="val 7143"/>
            </a:avLst>
          </a:prstGeom>
          <a:solidFill>
            <a:srgbClr val="F8F9FA"/>
          </a:solidFill>
          <a:ln w="25400">
            <a:solidFill>
              <a:srgbClr val="00B89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0" y="14630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Spring Boot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297680" y="1965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Server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589520" y="1371600"/>
            <a:ext cx="457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046720" y="1371600"/>
            <a:ext cx="3291840" cy="1280160"/>
          </a:xfrm>
          <a:prstGeom prst="roundRect">
            <a:avLst>
              <a:gd name="adj" fmla="val 7143"/>
            </a:avLst>
          </a:prstGeom>
          <a:solidFill>
            <a:srgbClr val="F8F9FA"/>
          </a:solidFill>
          <a:ln w="25400">
            <a:solidFill>
              <a:srgbClr val="6C5C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0" y="14630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046720" y="1965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Database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2926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Endpoints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3383280"/>
            <a:ext cx="10972800" cy="2834640"/>
          </a:xfrm>
          <a:prstGeom prst="roundRect">
            <a:avLst>
              <a:gd name="adj" fmla="val 2581"/>
            </a:avLst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474720"/>
            <a:ext cx="105156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 /api/auth/signup          →  Register new user (BCrypt hashing)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3739896"/>
            <a:ext cx="105156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 /api/auth/login           →  Authenticate &amp; return JWT token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4005072"/>
            <a:ext cx="105156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 /api/menu                 →  Fetch all menu items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4270248"/>
            <a:ext cx="105156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 /api/menu                 →  Add menu item (catering only)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4535424"/>
            <a:ext cx="105156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  /api/menu/{id}            →  Update menu item (catering only)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4800600"/>
            <a:ext cx="105156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/api/menu/{id}           →  Delete menu item (catering only)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5065776"/>
            <a:ext cx="105156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 /api/orders               →  Fetch orders (with filters)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" y="5330952"/>
            <a:ext cx="105156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 /api/orders               →  Place new order (JWT protected)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2960" y="5596128"/>
            <a:ext cx="105156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 /api/orders/{id}/status   →  Update order status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" y="5861304"/>
            <a:ext cx="105156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 /api/orders/{id}/notify   →  Mark notification sent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Schema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— 4 tables with foreign key relationships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474720" cy="2926080"/>
          </a:xfrm>
          <a:prstGeom prst="roundRect">
            <a:avLst>
              <a:gd name="adj" fmla="val 3125"/>
            </a:avLst>
          </a:prstGeom>
          <a:solidFill>
            <a:srgbClr val="F8F9FA"/>
          </a:solidFill>
          <a:ln w="19050">
            <a:solidFill>
              <a:srgbClr val="6C5C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459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 BIGINT PK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441448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 VARCHAR(255)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734056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password_hash  VARCHAR(255)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026664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  VARCHAR(50)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31927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created_at  TIMESTAMP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06240" y="1554480"/>
            <a:ext cx="3474720" cy="2926080"/>
          </a:xfrm>
          <a:prstGeom prst="roundRect">
            <a:avLst>
              <a:gd name="adj" fmla="val 3125"/>
            </a:avLst>
          </a:prstGeom>
          <a:solidFill>
            <a:srgbClr val="F8F9FA"/>
          </a:solidFill>
          <a:ln w="19050">
            <a:solidFill>
              <a:srgbClr val="00B89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0" y="16459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B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menu_items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389120" y="214884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 BIGINT PK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89120" y="2441448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 VARCHAR(255)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389120" y="2734056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  NUMERIC(10,2)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0" y="3026664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  VARCHAR(100)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89120" y="331927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available  BOOLEAN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955280" y="1554480"/>
            <a:ext cx="3474720" cy="2926080"/>
          </a:xfrm>
          <a:prstGeom prst="roundRect">
            <a:avLst>
              <a:gd name="adj" fmla="val 3125"/>
            </a:avLst>
          </a:prstGeom>
          <a:solidFill>
            <a:srgbClr val="F8F9FA"/>
          </a:solidFill>
          <a:ln w="19050">
            <a:solidFill>
              <a:srgbClr val="0984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0" y="16459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98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138160" y="214884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order_id  VARCHAR PK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138160" y="2441448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  VARCHAR(255)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138160" y="2734056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 NUMERIC(10,2)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138160" y="3026664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  VARCHAR(50)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138160" y="331927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payment_mode  VARCHAR(50)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138160" y="361188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scheduled_date  DATE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286000" y="4754880"/>
            <a:ext cx="7315200" cy="1280160"/>
          </a:xfrm>
          <a:prstGeom prst="roundRect">
            <a:avLst>
              <a:gd name="adj" fmla="val 7143"/>
            </a:avLst>
          </a:prstGeom>
          <a:solidFill>
            <a:srgbClr val="F8F9FA"/>
          </a:solidFill>
          <a:ln w="19050">
            <a:solidFill>
              <a:srgbClr val="E237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0" y="4846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23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order_items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2468880" y="530352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BIGINT PK  |  order_id VARCHAR FK  |  item_id INT  |  name VARCHAR  |  price NUMERIC  |  qty INT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286000" y="56692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Foreign Key: order_items.order_id → orders.order_id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&amp; Security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5120640" cy="4754880"/>
          </a:xfrm>
          <a:prstGeom prst="roundRect">
            <a:avLst>
              <a:gd name="adj" fmla="val 1923"/>
            </a:avLst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80160"/>
            <a:ext cx="5120640" cy="54864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463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Up Flow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10312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User enters name, password, role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48716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Frontend validates password (5 rules)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2871216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POST /api/auth/signup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3255264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Backend hashes password (BCryptPasswordEncoder)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363931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Stores in PostgreSQL users table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402336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Redirect to login page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4480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3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Features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484632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Passwords hashed with BCrypt (never plain text)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513892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JWT tokens with 24-hour expiry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5431536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Spring Security protects all endpoints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5724144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Token stored in sessionStorage (clears on tab close)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35040" y="1280160"/>
            <a:ext cx="5120640" cy="4754880"/>
          </a:xfrm>
          <a:prstGeom prst="roundRect">
            <a:avLst>
              <a:gd name="adj" fmla="val 1923"/>
            </a:avLst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35040" y="1280160"/>
            <a:ext cx="5120640" cy="54864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1463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Flow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309360" y="210312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User enters credentials + role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09360" y="248716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POST /api/auth/login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09360" y="2871216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Backend: find user → BCrypt.matches()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09360" y="3255264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On match → generate JWT token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09360" y="363931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Token sent to frontend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09360" y="402336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Navigate to role-based dashboard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09360" y="4480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98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Token Generation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309360" y="4846320"/>
            <a:ext cx="4572000" cy="1143000"/>
          </a:xfrm>
          <a:prstGeom prst="roundRect">
            <a:avLst>
              <a:gd name="adj" fmla="val 4800"/>
            </a:avLst>
          </a:prstGeom>
          <a:solidFill>
            <a:srgbClr val="F1F3F5"/>
          </a:solidFill>
          <a:ln/>
        </p:spPr>
      </p:sp>
      <p:sp>
        <p:nvSpPr>
          <p:cNvPr id="30" name="Text 28"/>
          <p:cNvSpPr/>
          <p:nvPr/>
        </p:nvSpPr>
        <p:spPr>
          <a:xfrm>
            <a:off x="6492240" y="489204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Jwts.builder()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92240" y="5093208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.setSubject(user.getName())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92240" y="5294376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.claim("role", user.getRole())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92240" y="5495544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.setExpiration(+24h)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92240" y="5696712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.signWith(secretKey).compact();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Module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5120640" cy="2926080"/>
          </a:xfrm>
          <a:prstGeom prst="roundRect">
            <a:avLst>
              <a:gd name="adj" fmla="val 3125"/>
            </a:avLst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80160"/>
            <a:ext cx="5120640" cy="54864"/>
          </a:xfrm>
          <a:prstGeom prst="rect">
            <a:avLst/>
          </a:prstGeom>
          <a:solidFill>
            <a:srgbClr val="0984E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4630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98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 Dashboard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01168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Live search with instant filtering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35915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Dynamic category pills from API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706624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Responsive card grid layout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3054096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Add to cart with quantity badges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340156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Floating cart bar (always visible)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280160"/>
            <a:ext cx="5120640" cy="2926080"/>
          </a:xfrm>
          <a:prstGeom prst="roundRect">
            <a:avLst>
              <a:gd name="adj" fmla="val 3125"/>
            </a:avLst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280160"/>
            <a:ext cx="5120640" cy="54864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14630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B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 &amp; Checkout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309360" y="201168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Increment / decrement quantities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09360" y="235915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Live total calculation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09360" y="2706624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Razorpay online payment or COD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9360" y="3054096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Order saved to PostgreSQL via API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09360" y="340156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Confirmation page with order ID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4480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Flow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8640" y="493776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F8F9FA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9377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3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 Menu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377440" y="493776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743200" y="493776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F8F9FA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0" y="49377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3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to Cart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0" y="493776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937760" y="493776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F8F9FA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49377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3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Payment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766560" y="493776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132320" y="493776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F8F9FA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32320" y="49377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3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Order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961120" y="493776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9326880" y="493776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F8F9FA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26880" y="49377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3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Confirmation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Razorpay Payment Integration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F8F9FA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716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clicks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"Pay Online"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0" y="1371600"/>
            <a:ext cx="320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606040" y="137160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F8F9FA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13716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Razorpay modal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 (iframe)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26280" y="1371600"/>
            <a:ext cx="320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846320" y="137160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F8F9FA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3716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enters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details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766560" y="1371600"/>
            <a:ext cx="320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086600" y="137160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F8F9FA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86600" y="13716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/ Fail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callback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006840" y="1371600"/>
            <a:ext cx="320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326880" y="137160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F8F9FA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0" y="13716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saved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payment ID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2560320"/>
            <a:ext cx="5120640" cy="3474720"/>
          </a:xfrm>
          <a:prstGeom prst="roundRect">
            <a:avLst>
              <a:gd name="adj" fmla="val 2632"/>
            </a:avLst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26517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Details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22960" y="320040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API Key injected at build time via .env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358444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Amount sent in paise (₹140 = 14000)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" y="3968496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Card data never touches our server (PCI-DSS)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4352544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Payment ID stored with order in database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" y="473659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Loading state prevents double payments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2960" y="512064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Failure handler shows error reason to user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035040" y="2560320"/>
            <a:ext cx="5120640" cy="3474720"/>
          </a:xfrm>
          <a:prstGeom prst="roundRect">
            <a:avLst>
              <a:gd name="adj" fmla="val 2632"/>
            </a:avLst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26517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Code (React)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6309360" y="3200400"/>
            <a:ext cx="4572000" cy="2560320"/>
          </a:xfrm>
          <a:prstGeom prst="roundRect">
            <a:avLst>
              <a:gd name="adj" fmla="val 2143"/>
            </a:avLst>
          </a:prstGeom>
          <a:solidFill>
            <a:srgbClr val="F1F3F5"/>
          </a:solidFill>
          <a:ln/>
        </p:spPr>
      </p:sp>
      <p:sp>
        <p:nvSpPr>
          <p:cNvPr id="30" name="Text 28"/>
          <p:cNvSpPr/>
          <p:nvPr/>
        </p:nvSpPr>
        <p:spPr>
          <a:xfrm>
            <a:off x="6492240" y="3246120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4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options = {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492240" y="3429000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4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key: REACT_APP_RAZORPAY_KEY_ID,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492240" y="3611880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4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amount: totalPrice * 100,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492240" y="3794760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4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currency: "INR",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492240" y="3977640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4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handler: async (response) =&gt; {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492240" y="4160520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4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apiPlaceOrder({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492240" y="4343400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4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items, total,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492240" y="4526280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4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paymentMode: 'online',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492240" y="4709160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4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razorpayPaymentId: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492240" y="4892040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4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response.razorpay_payment_id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492240" y="5074920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4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492240" y="5257800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4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492240" y="5440680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4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Catering Admin Module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5120640" cy="3657600"/>
          </a:xfrm>
          <a:prstGeom prst="roundRect">
            <a:avLst>
              <a:gd name="adj" fmla="val 2500"/>
            </a:avLst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80160"/>
            <a:ext cx="5120640" cy="54864"/>
          </a:xfrm>
          <a:prstGeom prst="rect">
            <a:avLst/>
          </a:prstGeom>
          <a:solidFill>
            <a:srgbClr val="0984E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4630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98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 Management (CRUD)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01168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Create — Add new item via API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39572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Read — Fetch all items from database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779776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Update — Edit item details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3163824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Delete — Remove item from database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354787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Toggle — Available / Unavailable status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393192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Categories: Breakfast, Lunch, Snacks, Beverages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280160"/>
            <a:ext cx="5120640" cy="3657600"/>
          </a:xfrm>
          <a:prstGeom prst="roundRect">
            <a:avLst>
              <a:gd name="adj" fmla="val 2500"/>
            </a:avLst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1280160"/>
            <a:ext cx="5120640" cy="54864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4630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B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Management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309360" y="201168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View all incoming orders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09360" y="239572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Employee name &amp; order details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9360" y="2779776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Payment mode badge (Paid / COD)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09360" y="3163824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Status workflow management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09360" y="354787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Notification tracking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09360" y="393192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Order total with itemized breakdown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5212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Status Lifecycle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5623560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F8F9FA"/>
          </a:solidFill>
          <a:ln w="19050">
            <a:solidFill>
              <a:srgbClr val="E237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6235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3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743200" y="56235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291840" y="5623560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F8F9FA"/>
          </a:solidFill>
          <a:ln w="19050">
            <a:solidFill>
              <a:srgbClr val="E170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91840" y="56235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70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0" y="56235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035040" y="5623560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F8F9FA"/>
          </a:solidFill>
          <a:ln w="19050">
            <a:solidFill>
              <a:srgbClr val="0984E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56235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98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229600" y="56235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778240" y="5623560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F8F9FA"/>
          </a:solidFill>
          <a:ln w="19050">
            <a:solidFill>
              <a:srgbClr val="00B89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78240" y="56235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Architecture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F8F9FA"/>
          </a:solidFill>
          <a:ln w="12700">
            <a:solidFill>
              <a:srgbClr val="0984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716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0" y="1371600"/>
            <a:ext cx="320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606040" y="137160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F8F9FA"/>
          </a:solidFill>
          <a:ln w="12700">
            <a:solidFill>
              <a:srgbClr val="0984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13716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26280" y="1371600"/>
            <a:ext cx="320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846320" y="137160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F8F9FA"/>
          </a:solidFill>
          <a:ln w="12700">
            <a:solidFill>
              <a:srgbClr val="0984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3716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Build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Java JAR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766560" y="1371600"/>
            <a:ext cx="320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086600" y="137160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F8F9FA"/>
          </a:solidFill>
          <a:ln w="12700">
            <a:solidFill>
              <a:srgbClr val="0984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86600" y="13716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Boot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Serves App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006840" y="1371600"/>
            <a:ext cx="320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326880" y="137160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F8F9FA"/>
          </a:solidFill>
          <a:ln w="12700">
            <a:solidFill>
              <a:srgbClr val="0984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0" y="13716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DB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2560320"/>
            <a:ext cx="5120640" cy="3474720"/>
          </a:xfrm>
          <a:prstGeom prst="roundRect">
            <a:avLst>
              <a:gd name="adj" fmla="val 2632"/>
            </a:avLst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2560320"/>
            <a:ext cx="5120640" cy="54864"/>
          </a:xfrm>
          <a:prstGeom prst="rect">
            <a:avLst/>
          </a:prstGeom>
          <a:solidFill>
            <a:srgbClr val="0984E3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27432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98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 Web Service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22960" y="329184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Auto-deploy on git push to main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" y="367588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Build: mvn clean package + npm run build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4059936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Start: java -jar servebox.jar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" y="4443984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HTTPS enabled by default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2960" y="482803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Environment variables for secrets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035040" y="2560320"/>
            <a:ext cx="5120640" cy="3474720"/>
          </a:xfrm>
          <a:prstGeom prst="roundRect">
            <a:avLst>
              <a:gd name="adj" fmla="val 2632"/>
            </a:avLst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35040" y="2560320"/>
            <a:ext cx="5120640" cy="54864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29" name="Text 27"/>
          <p:cNvSpPr/>
          <p:nvPr/>
        </p:nvSpPr>
        <p:spPr>
          <a:xfrm>
            <a:off x="6309360" y="27432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B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 PostgreSQL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6309360" y="329184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Managed cloud database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09360" y="367588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SSL connections enforced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09360" y="4059936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Automatic backups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09360" y="4443984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Same region as web service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309360" y="482803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Connected via DATABASE_URL env var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Structure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120640" cy="4846320"/>
          </a:xfrm>
          <a:prstGeom prst="roundRect">
            <a:avLst>
              <a:gd name="adj" fmla="val 1887"/>
            </a:avLst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188720"/>
            <a:ext cx="5120640" cy="54864"/>
          </a:xfrm>
          <a:prstGeom prst="rect">
            <a:avLst/>
          </a:prstGeom>
          <a:solidFill>
            <a:srgbClr val="0984E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3716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98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(React)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19202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17627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App.js               Main router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243230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App.css              Global styles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268833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components/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294436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LoginPage.js     Authentication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32004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SignUpPage.js     Registration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345643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EmployeeDashboard.js  Menu + Cart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" y="371246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CartPage.js      Checkout + Payment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396849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OrderConfirmation.js  Success page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" y="422452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CateringDashboard.js  Admin panel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" y="44805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OrderDisplay.js  Public display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" y="473659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Navbar.js        Navigation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499262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helpers/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" y="524865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api.js           API client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960" y="550468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storage.js       Utilities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35040" y="1188720"/>
            <a:ext cx="5120640" cy="4846320"/>
          </a:xfrm>
          <a:prstGeom prst="roundRect">
            <a:avLst>
              <a:gd name="adj" fmla="val 1887"/>
            </a:avLst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35040" y="1188720"/>
            <a:ext cx="5120640" cy="54864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13716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B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(Java Spring Boot)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309360" y="19202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src/main/java/com/servebox/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09360" y="217627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ServeBoxApplication.java   Main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09360" y="243230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config/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09360" y="268833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SecurityConfig.java    Security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09360" y="294436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controller/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09360" y="32004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AuthController.java    Auth API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09360" y="345643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MenuController.java    Menu API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09360" y="371246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OrderController.java   Orders API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09360" y="396849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model/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09360" y="422452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User.java              Entity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309360" y="44805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MenuItem.java          Entity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09360" y="473659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Order.java             Entity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309360" y="499262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repository/                JPA Repos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309360" y="524865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service/                   Logic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0" y="5760720"/>
            <a:ext cx="6400800" cy="45720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0" y="57607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3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React components  •  3 REST controllers  •  4 database tables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0" y="2011680"/>
            <a:ext cx="1219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0" y="2926080"/>
            <a:ext cx="1219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23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ServeBox — Making Office Food Simple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393192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9776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4297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06040" y="393192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39776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06040" y="4297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Spring Boot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89120" y="393192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39776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0" y="4297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72200" y="393192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39776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72200" y="4297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Security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955280" y="393192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0" y="39776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955280" y="4297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Razorpay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738360" y="393192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38360" y="39776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738360" y="4297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 Cloud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0" y="530352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ServeBox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ServeBox Internal Presentation</dc:title>
  <dc:subject>PptxGenJS Presentation</dc:subject>
  <dc:creator>ServeBox Team</dc:creator>
  <cp:lastModifiedBy>ServeBox Team</cp:lastModifiedBy>
  <cp:revision>1</cp:revision>
  <dcterms:created xsi:type="dcterms:W3CDTF">2026-03-24T12:09:13Z</dcterms:created>
  <dcterms:modified xsi:type="dcterms:W3CDTF">2026-03-24T12:09:13Z</dcterms:modified>
</cp:coreProperties>
</file>